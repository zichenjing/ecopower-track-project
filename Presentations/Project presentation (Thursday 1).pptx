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Caveat"/>
      <p:regular r:id="rId18"/>
      <p:bold r:id="rId19"/>
    </p:embeddedFont>
    <p:embeddedFont>
      <p:font typeface="Caveat SemiBold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aveatSemiBold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CaveatSemiBold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Caveat-bold.fntdata"/><Relationship Id="rId6" Type="http://schemas.openxmlformats.org/officeDocument/2006/relationships/slide" Target="slides/slide1.xml"/><Relationship Id="rId18" Type="http://schemas.openxmlformats.org/officeDocument/2006/relationships/font" Target="fonts/Cavea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4cdd74eb80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4cdd74eb80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4ce5fe7d3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4ce5fe7d3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4ce5fe7d35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4ce5fe7d3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4cef61333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4cef61333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4ce5fe7d35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4ce5fe7d3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4ce5fe7d3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4ce5fe7d3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4ce5fe7d35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4ce5fe7d35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4cef61333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4cef61333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4cd1445ed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4cd1445ed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4cdd74eb80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4cdd74eb80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4b92df7a0f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4b92df7a0f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" y="0"/>
            <a:ext cx="9144000" cy="6050748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1214225" y="5276175"/>
            <a:ext cx="65631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en" sz="1610">
                <a:solidFill>
                  <a:schemeClr val="lt1"/>
                </a:solidFill>
                <a:latin typeface="Caveat SemiBold"/>
                <a:ea typeface="Caveat SemiBold"/>
                <a:cs typeface="Caveat SemiBold"/>
                <a:sym typeface="Caveat SemiBold"/>
              </a:rPr>
              <a:t>by Ruxandra Burian, Zichen Jing (Nancy), Jiwoo Lee, Afra Alhammadi, Renata Espinosa</a:t>
            </a:r>
            <a:endParaRPr sz="1610">
              <a:solidFill>
                <a:schemeClr val="lt1"/>
              </a:solidFill>
              <a:latin typeface="Caveat SemiBold"/>
              <a:ea typeface="Caveat SemiBold"/>
              <a:cs typeface="Caveat SemiBold"/>
              <a:sym typeface="Caveat SemiBold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4">
            <a:alphaModFix amt="72000"/>
          </a:blip>
          <a:stretch>
            <a:fillRect/>
          </a:stretch>
        </p:blipFill>
        <p:spPr>
          <a:xfrm>
            <a:off x="638150" y="968548"/>
            <a:ext cx="7715252" cy="33513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>
            <p:ph type="ctrTitle"/>
          </p:nvPr>
        </p:nvSpPr>
        <p:spPr>
          <a:xfrm>
            <a:off x="1116427" y="1589800"/>
            <a:ext cx="6758700" cy="12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800">
                <a:latin typeface="Caveat"/>
                <a:ea typeface="Caveat"/>
                <a:cs typeface="Caveat"/>
                <a:sym typeface="Caveat"/>
              </a:rPr>
              <a:t>EcoTrack</a:t>
            </a:r>
            <a:endParaRPr b="1" sz="6800">
              <a:latin typeface="Caveat"/>
              <a:ea typeface="Caveat"/>
              <a:cs typeface="Caveat"/>
              <a:sym typeface="Cave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latin typeface="Caveat"/>
                <a:ea typeface="Caveat"/>
                <a:cs typeface="Caveat"/>
                <a:sym typeface="Caveat"/>
              </a:rPr>
              <a:t>Sustainable Room Energy Monitoring Project</a:t>
            </a:r>
            <a:endParaRPr b="1" sz="3300"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964050" y="3000400"/>
            <a:ext cx="721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veat"/>
                <a:ea typeface="Caveat"/>
                <a:cs typeface="Caveat"/>
                <a:sym typeface="Caveat"/>
              </a:rPr>
              <a:t>By Ruxandra Burian, Zichen Jing (Nancy), Jiwoo Lee, Afra Alhammadi, Renata Espinosa</a:t>
            </a:r>
            <a:endParaRPr sz="1800">
              <a:latin typeface="Caveat"/>
              <a:ea typeface="Caveat"/>
              <a:cs typeface="Caveat"/>
              <a:sym typeface="Cave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Structure</a:t>
            </a:r>
            <a:endParaRPr/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→ detect humidity, temperature, accelerometer → data logged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Case 1: Window open/close</a:t>
            </a:r>
            <a:endParaRPr b="1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Humidity increase beyond threshold → data recorded → LED red light &amp; notification to phone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Case 2: Thermostat on/off</a:t>
            </a:r>
            <a:endParaRPr b="1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Temperature starts to decrease and plateau → data recorded for the duration → LED red light &amp; notification to phone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Case 3: Light on/off</a:t>
            </a:r>
            <a:endParaRPr b="1"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Accelerometer detects movement in switch (switch 1 and 2) → data recorded for the duration → LED red light &amp; notification to phone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152400" y="197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Datasheets used for circuit design</a:t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4288" y="1276675"/>
            <a:ext cx="5076825" cy="36950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/>
        </p:nvSpPr>
        <p:spPr>
          <a:xfrm>
            <a:off x="3333750" y="823275"/>
            <a:ext cx="2476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BME280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152400" y="197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Datasheets used for circuit design</a:t>
            </a:r>
            <a:endParaRPr/>
          </a:p>
        </p:txBody>
      </p:sp>
      <p:sp>
        <p:nvSpPr>
          <p:cNvPr id="77" name="Google Shape;77;p16"/>
          <p:cNvSpPr txBox="1"/>
          <p:nvPr/>
        </p:nvSpPr>
        <p:spPr>
          <a:xfrm>
            <a:off x="696125" y="1079100"/>
            <a:ext cx="2476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MPU-6500</a:t>
            </a:r>
            <a:endParaRPr/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9350" y="921150"/>
            <a:ext cx="4226512" cy="406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152400" y="197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Datasheets used for circuit design</a:t>
            </a:r>
            <a:endParaRPr/>
          </a:p>
        </p:txBody>
      </p:sp>
      <p:sp>
        <p:nvSpPr>
          <p:cNvPr id="84" name="Google Shape;84;p17"/>
          <p:cNvSpPr txBox="1"/>
          <p:nvPr/>
        </p:nvSpPr>
        <p:spPr>
          <a:xfrm>
            <a:off x="229400" y="860025"/>
            <a:ext cx="2476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VEML7700</a:t>
            </a:r>
            <a:endParaRPr/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8688" y="1350175"/>
            <a:ext cx="7086620" cy="3359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200025" y="197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Datasheets used for circuit design</a:t>
            </a:r>
            <a:endParaRPr/>
          </a:p>
        </p:txBody>
      </p:sp>
      <p:sp>
        <p:nvSpPr>
          <p:cNvPr id="91" name="Google Shape;91;p18"/>
          <p:cNvSpPr txBox="1"/>
          <p:nvPr/>
        </p:nvSpPr>
        <p:spPr>
          <a:xfrm>
            <a:off x="200025" y="1077750"/>
            <a:ext cx="2476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LED WS2812C</a:t>
            </a:r>
            <a:endParaRPr/>
          </a:p>
        </p:txBody>
      </p:sp>
      <p:pic>
        <p:nvPicPr>
          <p:cNvPr id="92" name="Google Shape;92;p18"/>
          <p:cNvPicPr preferRelativeResize="0"/>
          <p:nvPr/>
        </p:nvPicPr>
        <p:blipFill rotWithShape="1">
          <a:blip r:embed="rId3">
            <a:alphaModFix/>
          </a:blip>
          <a:srcRect b="0" l="0" r="0" t="37079"/>
          <a:stretch/>
        </p:blipFill>
        <p:spPr>
          <a:xfrm>
            <a:off x="543363" y="1785625"/>
            <a:ext cx="7738675" cy="211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0E0E3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311675"/>
            <a:ext cx="8520600" cy="10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Circuit Design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0"/>
          </a:p>
        </p:txBody>
      </p:sp>
      <p:sp>
        <p:nvSpPr>
          <p:cNvPr id="98" name="Google Shape;98;p19"/>
          <p:cNvSpPr txBox="1"/>
          <p:nvPr/>
        </p:nvSpPr>
        <p:spPr>
          <a:xfrm>
            <a:off x="311700" y="1019175"/>
            <a:ext cx="2841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Humidity</a:t>
            </a:r>
            <a:r>
              <a:rPr lang="en"/>
              <a:t>, temperature sensor BME280</a:t>
            </a:r>
            <a:endParaRPr/>
          </a:p>
        </p:txBody>
      </p:sp>
      <p:sp>
        <p:nvSpPr>
          <p:cNvPr id="99" name="Google Shape;99;p19"/>
          <p:cNvSpPr txBox="1"/>
          <p:nvPr/>
        </p:nvSpPr>
        <p:spPr>
          <a:xfrm>
            <a:off x="5692600" y="1819125"/>
            <a:ext cx="188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LED </a:t>
            </a:r>
            <a:r>
              <a:rPr lang="en">
                <a:solidFill>
                  <a:schemeClr val="dk1"/>
                </a:solidFill>
              </a:rPr>
              <a:t>WS2812C</a:t>
            </a:r>
            <a:endParaRPr/>
          </a:p>
        </p:txBody>
      </p:sp>
      <p:pic>
        <p:nvPicPr>
          <p:cNvPr id="100" name="Google Shape;10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634775"/>
            <a:ext cx="5222836" cy="320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92611" y="2314575"/>
            <a:ext cx="3181350" cy="167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0E0E3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264075" y="321200"/>
            <a:ext cx="8520600" cy="10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Circuit Design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0"/>
          </a:p>
        </p:txBody>
      </p:sp>
      <p:sp>
        <p:nvSpPr>
          <p:cNvPr id="107" name="Google Shape;107;p20"/>
          <p:cNvSpPr txBox="1"/>
          <p:nvPr/>
        </p:nvSpPr>
        <p:spPr>
          <a:xfrm>
            <a:off x="311700" y="1019175"/>
            <a:ext cx="23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M5 Stamp </a:t>
            </a:r>
            <a:endParaRPr/>
          </a:p>
        </p:txBody>
      </p:sp>
      <p:sp>
        <p:nvSpPr>
          <p:cNvPr id="108" name="Google Shape;108;p20"/>
          <p:cNvSpPr txBox="1"/>
          <p:nvPr/>
        </p:nvSpPr>
        <p:spPr>
          <a:xfrm>
            <a:off x="4724400" y="1019175"/>
            <a:ext cx="2805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Accelerometer / Gyroscope MPU-6500</a:t>
            </a:r>
            <a:endParaRPr/>
          </a:p>
        </p:txBody>
      </p:sp>
      <p:pic>
        <p:nvPicPr>
          <p:cNvPr id="109" name="Google Shape;10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419375"/>
            <a:ext cx="4260299" cy="2951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9650" y="1634775"/>
            <a:ext cx="4133850" cy="233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0E0E3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311700" y="311675"/>
            <a:ext cx="8520600" cy="10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Initial Circuit Design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0"/>
          </a:p>
        </p:txBody>
      </p:sp>
      <p:sp>
        <p:nvSpPr>
          <p:cNvPr id="116" name="Google Shape;116;p21"/>
          <p:cNvSpPr txBox="1"/>
          <p:nvPr/>
        </p:nvSpPr>
        <p:spPr>
          <a:xfrm>
            <a:off x="311700" y="981075"/>
            <a:ext cx="270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Light sensor </a:t>
            </a:r>
            <a:r>
              <a:rPr lang="en">
                <a:solidFill>
                  <a:schemeClr val="dk1"/>
                </a:solidFill>
              </a:rPr>
              <a:t>VEML7700</a:t>
            </a:r>
            <a:endParaRPr/>
          </a:p>
        </p:txBody>
      </p:sp>
      <p:pic>
        <p:nvPicPr>
          <p:cNvPr id="117" name="Google Shape;11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950" y="1381275"/>
            <a:ext cx="5525003" cy="3524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CCCC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Device placement</a:t>
            </a:r>
            <a:endParaRPr/>
          </a:p>
        </p:txBody>
      </p:sp>
      <p:pic>
        <p:nvPicPr>
          <p:cNvPr id="123" name="Google Shape;12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050" y="1093925"/>
            <a:ext cx="2495551" cy="3820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84250" y="1674950"/>
            <a:ext cx="5257552" cy="2487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5CD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 to be done</a:t>
            </a:r>
            <a:endParaRPr/>
          </a:p>
        </p:txBody>
      </p:sp>
      <p:sp>
        <p:nvSpPr>
          <p:cNvPr id="130" name="Google Shape;130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 ‘reasonable range’ of humidity and temperature (conditions for LED light to turn red/green)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Detect when temperature decreases (&amp; plateaus) - record time duration of AC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Process raw data of temperature → Power used → Price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Connect to website to log 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User access to this 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966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/>
          <p:nvPr>
            <p:ph idx="1" type="body"/>
          </p:nvPr>
        </p:nvSpPr>
        <p:spPr>
          <a:xfrm>
            <a:off x="137700" y="674000"/>
            <a:ext cx="6465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500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rPr>
              <a:t>We are looking forward to your feedback!</a:t>
            </a:r>
            <a:endParaRPr b="1" sz="8500">
              <a:solidFill>
                <a:schemeClr val="dk1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136" name="Google Shape;13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39629">
            <a:off x="6287549" y="2484775"/>
            <a:ext cx="2438400" cy="24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